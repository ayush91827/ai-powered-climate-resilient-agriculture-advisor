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BM Plex Sans" panose="020B0503050203000203" pitchFamily="34" charset="0"/>
      <p:regular r:id="rId13"/>
    </p:embeddedFont>
    <p:embeddedFont>
      <p:font typeface="Outfit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12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AI for Climate-Resilient Agriculture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Harnessing the power of artificial intelligence to revolutionize farming practices and combat the impacts of climate change. This system offers actionable insights for sustainable agriculture.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236" y="760095"/>
            <a:ext cx="7659529" cy="1060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Introducing Our Conversational AI System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42236" y="2456736"/>
            <a:ext cx="3723680" cy="2580442"/>
          </a:xfrm>
          <a:prstGeom prst="roundRect">
            <a:avLst>
              <a:gd name="adj" fmla="val 4252"/>
            </a:avLst>
          </a:prstGeom>
          <a:solidFill>
            <a:srgbClr val="FFFFFF">
              <a:alpha val="95000"/>
            </a:srgbClr>
          </a:solidFill>
          <a:ln/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42236" y="2433876"/>
            <a:ext cx="3723680" cy="91440"/>
          </a:xfrm>
          <a:prstGeom prst="roundRect">
            <a:avLst>
              <a:gd name="adj" fmla="val 208759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285881" y="2138601"/>
            <a:ext cx="636270" cy="636270"/>
          </a:xfrm>
          <a:prstGeom prst="roundRect">
            <a:avLst>
              <a:gd name="adj" fmla="val 143713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476738" y="2297668"/>
            <a:ext cx="254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77146" y="2986921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Intuitive Interface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77146" y="3445431"/>
            <a:ext cx="3253859" cy="1356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Natural language processing allows farmers to query the system with ease, using everyday language.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677966" y="2456736"/>
            <a:ext cx="3723799" cy="2580442"/>
          </a:xfrm>
          <a:prstGeom prst="roundRect">
            <a:avLst>
              <a:gd name="adj" fmla="val 4252"/>
            </a:avLst>
          </a:prstGeom>
          <a:solidFill>
            <a:srgbClr val="FFFFFF">
              <a:alpha val="95000"/>
            </a:srgbClr>
          </a:solidFill>
          <a:ln/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77966" y="2433876"/>
            <a:ext cx="3723799" cy="91440"/>
          </a:xfrm>
          <a:prstGeom prst="roundRect">
            <a:avLst>
              <a:gd name="adj" fmla="val 208759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221730" y="2138601"/>
            <a:ext cx="636270" cy="636270"/>
          </a:xfrm>
          <a:prstGeom prst="roundRect">
            <a:avLst>
              <a:gd name="adj" fmla="val 143713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12587" y="2297668"/>
            <a:ext cx="254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12876" y="2986921"/>
            <a:ext cx="277332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Smart Entity Extraction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4912876" y="3445431"/>
            <a:ext cx="3253978" cy="1356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AI intelligently identifies key information like location, crop type, and specific agricultural challenges from user input.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742236" y="5567363"/>
            <a:ext cx="7659529" cy="1902023"/>
          </a:xfrm>
          <a:prstGeom prst="roundRect">
            <a:avLst>
              <a:gd name="adj" fmla="val 5769"/>
            </a:avLst>
          </a:prstGeom>
          <a:solidFill>
            <a:srgbClr val="FFFFFF">
              <a:alpha val="95000"/>
            </a:srgbClr>
          </a:solidFill>
          <a:ln/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42236" y="5544503"/>
            <a:ext cx="7659529" cy="91440"/>
          </a:xfrm>
          <a:prstGeom prst="roundRect">
            <a:avLst>
              <a:gd name="adj" fmla="val 208759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253865" y="5249228"/>
            <a:ext cx="636270" cy="636270"/>
          </a:xfrm>
          <a:prstGeom prst="roundRect">
            <a:avLst>
              <a:gd name="adj" fmla="val 143713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444722" y="5408295"/>
            <a:ext cx="254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77146" y="6097548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Multi-Turn Memory</a:t>
            </a:r>
            <a:endParaRPr lang="en-US" sz="2050" dirty="0"/>
          </a:p>
        </p:txBody>
      </p:sp>
      <p:sp>
        <p:nvSpPr>
          <p:cNvPr id="21" name="Text 18"/>
          <p:cNvSpPr/>
          <p:nvPr/>
        </p:nvSpPr>
        <p:spPr>
          <a:xfrm>
            <a:off x="977146" y="6556057"/>
            <a:ext cx="7189708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system maintains conversation context across multiple exchanges, ensuring personalized and relevant advice.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014" y="561261"/>
            <a:ext cx="6174224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Precision Climate Risk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77014" y="1477328"/>
            <a:ext cx="12876371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AI integrates and analyzes crucial environmental data to provide accurate climate risk predictions, empowering farmers to make informed decisions.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77014" y="2586752"/>
            <a:ext cx="7527131" cy="3500914"/>
          </a:xfrm>
          <a:prstGeom prst="roundRect">
            <a:avLst>
              <a:gd name="adj" fmla="val 5234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84634" y="2594372"/>
            <a:ext cx="3755946" cy="1905714"/>
          </a:xfrm>
          <a:prstGeom prst="roundRect">
            <a:avLst>
              <a:gd name="adj" fmla="val 9614"/>
            </a:avLst>
          </a:prstGeom>
          <a:solidFill>
            <a:srgbClr val="CFDB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88112" y="2797850"/>
            <a:ext cx="2806660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Simulated Weather Data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88112" y="3319343"/>
            <a:ext cx="334899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of temperature, rainfall, and humidity simulations for comprehensive analysis.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40580" y="2594372"/>
            <a:ext cx="3755946" cy="1905714"/>
          </a:xfrm>
          <a:prstGeom prst="rect">
            <a:avLst/>
          </a:prstGeom>
          <a:solidFill>
            <a:srgbClr val="CFDB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40580" y="2594372"/>
            <a:ext cx="22860" cy="1905714"/>
          </a:xfrm>
          <a:prstGeom prst="roundRect">
            <a:avLst>
              <a:gd name="adj" fmla="val 801496"/>
            </a:avLst>
          </a:prstGeom>
          <a:solidFill>
            <a:srgbClr val="B5C1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4058" y="2797850"/>
            <a:ext cx="2544723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Risk Prediction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4058" y="3319343"/>
            <a:ext cx="334899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Accurately forecasts drought, flood, and heat stress, vital for proactive planning.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4634" y="4500086"/>
            <a:ext cx="7511891" cy="1579959"/>
          </a:xfrm>
          <a:prstGeom prst="rect">
            <a:avLst/>
          </a:prstGeom>
          <a:solidFill>
            <a:srgbClr val="CFDB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84634" y="4500086"/>
            <a:ext cx="7511891" cy="22860"/>
          </a:xfrm>
          <a:prstGeom prst="roundRect">
            <a:avLst>
              <a:gd name="adj" fmla="val 801496"/>
            </a:avLst>
          </a:prstGeom>
          <a:solidFill>
            <a:srgbClr val="B5C1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88112" y="4703564"/>
            <a:ext cx="2544723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Severity Classification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88112" y="5225058"/>
            <a:ext cx="7104936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Categorizes risks as low, medium, or high, allowing for prioritized interventions.</a:t>
            </a:r>
            <a:endParaRPr lang="en-US" sz="16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494" y="2586752"/>
            <a:ext cx="4852511" cy="48525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5949"/>
            <a:ext cx="62467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Rich Knowledge Base with RAG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94655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Leveraging Retrieval-Augmented Generation (RAG) to provide data-driven recommendations from an extensive knowledge repository.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27509"/>
            <a:ext cx="4158615" cy="25702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72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Diverse Crop Data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21494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Comprehensive information on over 5 key crops, including maize, rice, wheat, sorghum, and millet.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927509"/>
            <a:ext cx="4158615" cy="25702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572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Sustainable Practices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621494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rich database of eco-friendly farming techniques and efficient resource management strategies.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927509"/>
            <a:ext cx="4158615" cy="25702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5724525"/>
            <a:ext cx="33457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Climate-Resilient Varieties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621494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Guidance on crop varieties specifically adapted to withstand challenging climate conditions.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588288"/>
            <a:ext cx="9578340" cy="53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Agentic Workflow: A Multi-Step Reasoning Process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48784" y="1550908"/>
            <a:ext cx="13132832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AI system employs a sophisticated, multi-step process to generate precise, personalized agricultural advice.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8784" y="2133838"/>
            <a:ext cx="213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8784" y="2466975"/>
            <a:ext cx="4235053" cy="30480"/>
          </a:xfrm>
          <a:prstGeom prst="rect">
            <a:avLst/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8784" y="2634853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Extract Entities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48784" y="3097411"/>
            <a:ext cx="423505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Identifies key data from user input.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197673" y="2133838"/>
            <a:ext cx="213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197673" y="2466975"/>
            <a:ext cx="4235053" cy="30480"/>
          </a:xfrm>
          <a:prstGeom prst="rect">
            <a:avLst/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97673" y="2634853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Update User Profile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197673" y="3097411"/>
            <a:ext cx="423505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Maintains context and preferences.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646563" y="2133838"/>
            <a:ext cx="213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46563" y="2466975"/>
            <a:ext cx="4235053" cy="30480"/>
          </a:xfrm>
          <a:prstGeom prst="rect">
            <a:avLst/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46563" y="2634853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Validate Information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46563" y="3097411"/>
            <a:ext cx="4235053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Ensures complete data for accurate analysis.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8784" y="4156234"/>
            <a:ext cx="213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8784" y="4489371"/>
            <a:ext cx="4235053" cy="30480"/>
          </a:xfrm>
          <a:prstGeom prst="rect">
            <a:avLst/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8784" y="4657249"/>
            <a:ext cx="274593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Retrieve Weather Data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48784" y="5119807"/>
            <a:ext cx="423505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Accesses simulated weather APIs.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197673" y="4156234"/>
            <a:ext cx="213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197673" y="4489371"/>
            <a:ext cx="4235053" cy="30480"/>
          </a:xfrm>
          <a:prstGeom prst="rect">
            <a:avLst/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97673" y="4657249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Assess Climate Risks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197673" y="5119807"/>
            <a:ext cx="423505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Evaluates potential environmental threats.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646563" y="4156234"/>
            <a:ext cx="213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06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646563" y="4489371"/>
            <a:ext cx="4235053" cy="30480"/>
          </a:xfrm>
          <a:prstGeom prst="rect">
            <a:avLst/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646563" y="4657249"/>
            <a:ext cx="2763560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Query Knowledge Base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646563" y="5119807"/>
            <a:ext cx="4235053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Extracts relevant farming and crop information.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48784" y="6178629"/>
            <a:ext cx="213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07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48784" y="6511766"/>
            <a:ext cx="13132832" cy="30480"/>
          </a:xfrm>
          <a:prstGeom prst="rect">
            <a:avLst/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48784" y="6679644"/>
            <a:ext cx="3410426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Generate Recommendations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48784" y="7142202"/>
            <a:ext cx="13132832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Delivers tailored advice for farmers.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156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2388" y="2581037"/>
            <a:ext cx="4316373" cy="42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Committed to Responsible AI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1962388" y="3257907"/>
            <a:ext cx="10705505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Ethical principles are at the core of our AI system, ensuring trust, equity, and sustainability in agricultural solutions.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962388" y="3719155"/>
            <a:ext cx="5268158" cy="1938099"/>
          </a:xfrm>
          <a:prstGeom prst="roundRect">
            <a:avLst>
              <a:gd name="adj" fmla="val 786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139196" y="3895963"/>
            <a:ext cx="507683" cy="507683"/>
          </a:xfrm>
          <a:prstGeom prst="roundRect">
            <a:avLst>
              <a:gd name="adj" fmla="val 18009438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8737" y="4035504"/>
            <a:ext cx="228481" cy="2284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39196" y="4572833"/>
            <a:ext cx="2115622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Transparency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2139196" y="4938713"/>
            <a:ext cx="4914543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Displays data sources and prediction confidence (e.g., 70%), building user trust.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399734" y="3719155"/>
            <a:ext cx="5268158" cy="1938099"/>
          </a:xfrm>
          <a:prstGeom prst="roundRect">
            <a:avLst>
              <a:gd name="adj" fmla="val 786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7576542" y="3895963"/>
            <a:ext cx="507683" cy="507683"/>
          </a:xfrm>
          <a:prstGeom prst="roundRect">
            <a:avLst>
              <a:gd name="adj" fmla="val 18009438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6083" y="4035504"/>
            <a:ext cx="228481" cy="2284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76542" y="4572833"/>
            <a:ext cx="2115622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Fairness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576542" y="4938713"/>
            <a:ext cx="4914543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Includes diverse crops from multiple regions to ensure equitable recommendations for all.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962388" y="5826443"/>
            <a:ext cx="5268158" cy="1938099"/>
          </a:xfrm>
          <a:prstGeom prst="roundRect">
            <a:avLst>
              <a:gd name="adj" fmla="val 786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2139196" y="6003250"/>
            <a:ext cx="507683" cy="507683"/>
          </a:xfrm>
          <a:prstGeom prst="roundRect">
            <a:avLst>
              <a:gd name="adj" fmla="val 18009438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78737" y="6142792"/>
            <a:ext cx="228481" cy="22848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39196" y="6680121"/>
            <a:ext cx="2115622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Ethics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2139196" y="7046000"/>
            <a:ext cx="4914543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Promotes only sustainable farming practices, aligning with environmental stewardship.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399734" y="5826443"/>
            <a:ext cx="5268158" cy="1938099"/>
          </a:xfrm>
          <a:prstGeom prst="roundRect">
            <a:avLst>
              <a:gd name="adj" fmla="val 786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7576542" y="6003250"/>
            <a:ext cx="507683" cy="507683"/>
          </a:xfrm>
          <a:prstGeom prst="roundRect">
            <a:avLst>
              <a:gd name="adj" fmla="val 18009438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16083" y="6142792"/>
            <a:ext cx="228481" cy="22848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76542" y="6680121"/>
            <a:ext cx="2115622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Privacy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576542" y="7046000"/>
            <a:ext cx="4914543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Ensures no personal data storage, operating on a session-based model to protect user information.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2" y="311825"/>
            <a:ext cx="324064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Sample Interactions: AI in Action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728442" y="822127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 how our AI system provides intelligent, context-aware advice for farmers.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728442" y="1244441"/>
            <a:ext cx="170271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Example 1: Maize in Nairobi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28442" y="1534954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User:</a:t>
            </a: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"I'm in Nairobi, Kenya, planning to grow maize."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728442" y="1818442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AI:</a:t>
            </a: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(Provides comprehensive analysis)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28442" y="2101929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Detailed weather insights.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728442" y="2323028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Drought risk assessment.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728442" y="2544128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Recommendations for drought-tolerant maize varieties.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28442" y="2765227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Suggestions for drip irrigation and mulching techniques.</a:t>
            </a:r>
            <a:endParaRPr lang="en-US" sz="8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052" y="1258610"/>
            <a:ext cx="3448288" cy="3448288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442" y="5089446"/>
            <a:ext cx="3448288" cy="34482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052" y="5075277"/>
            <a:ext cx="224004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Example 2: Drought-Resilient Crops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461052" y="5365790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User:</a:t>
            </a: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"What crops work best in drought conditions?"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461052" y="5649278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AI:</a:t>
            </a: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(Offers targeted recommendations)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461052" y="5932765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Highlights sorghum and millet for their low water requirements.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461052" y="6153864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Suggests specific resilient varieties.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461052" y="6374963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Provides optimal planting guidance for arid environments.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2984"/>
            <a:ext cx="788884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Under the Hood: Technical Architecture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335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robust and flexible architecture underpins our AI system, ensuring efficient and accurate operation.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2197418" y="3008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Entity Extraction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499366"/>
            <a:ext cx="4238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Keyword-based Named Entity Recognition (NER) for crops, locations, and challenges.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362" y="3943350"/>
            <a:ext cx="318968" cy="318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97628" y="31903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Knowledge Retrieval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597628" y="3680817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in-memory database simulates a vector DB for rapid information access.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6713" y="3943350"/>
            <a:ext cx="318968" cy="3189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97628" y="5642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Risk Prediction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597628" y="6133386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Rule-based logic with defined weather thresholds for accurate risk assessment.</a:t>
            </a:r>
            <a:endParaRPr lang="en-US" sz="17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86713" y="5605701"/>
            <a:ext cx="318968" cy="3189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197418" y="5642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Response Generation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6133386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Template-based system with dynamic content insertion for tailored advice.</a:t>
            </a:r>
            <a:endParaRPr lang="en-US" sz="17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4362" y="5605701"/>
            <a:ext cx="318968" cy="318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436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9713" y="439698"/>
            <a:ext cx="5792629" cy="39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Transformative Impact: Advancing SDGs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59713" y="1079183"/>
            <a:ext cx="8024574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AI advisor directly contributes to critical United Nations Sustainable Development Goals.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13" y="1694736"/>
            <a:ext cx="3817263" cy="38172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9713" y="5691902"/>
            <a:ext cx="1999059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SDG 2: Zero Hunger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59713" y="6101596"/>
            <a:ext cx="3817263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Reduces crop losses by 20-30% through early risk detection.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59713" y="6669048"/>
            <a:ext cx="3817263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Improves food security via climate-appropriate crop recommendations.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59713" y="7236500"/>
            <a:ext cx="3817263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Enhances yields through optimized planting schedules.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644" y="1694736"/>
            <a:ext cx="3817263" cy="38172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74644" y="5691902"/>
            <a:ext cx="2032516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SDG 13: Climate Action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4774644" y="6101596"/>
            <a:ext cx="3817263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Promotes climate-resilient farming practices.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774644" y="6413302"/>
            <a:ext cx="3817263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Encourages water conservation (up to 70% savings with drip irrigation).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774644" y="6980753"/>
            <a:ext cx="3817263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Supports adaptation through diversified cropping systems.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8376" y="1006078"/>
            <a:ext cx="5660231" cy="408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Roadmap for Production Enhancement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6058376" y="1659612"/>
            <a:ext cx="8000048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scale this prototype and maximize its impact, future enhancements will focus on real-world integration and advanced capabilities.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058376" y="2366367"/>
            <a:ext cx="653653" cy="1203008"/>
          </a:xfrm>
          <a:prstGeom prst="roundRect">
            <a:avLst>
              <a:gd name="adj" fmla="val 360026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262688" y="2814637"/>
            <a:ext cx="245031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75383" y="2529721"/>
            <a:ext cx="204275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Real API Integration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75383" y="2883098"/>
            <a:ext cx="7183041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weather data from OpenWeatherMap, satellite data from NASA POWER, and soil analysis via Google Earth Engine.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58376" y="3732728"/>
            <a:ext cx="653653" cy="1203008"/>
          </a:xfrm>
          <a:prstGeom prst="roundRect">
            <a:avLst>
              <a:gd name="adj" fmla="val 360026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262688" y="4180999"/>
            <a:ext cx="245031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875383" y="3896082"/>
            <a:ext cx="204275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Advanced ML Models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75383" y="4249460"/>
            <a:ext cx="7183041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Implementing Scikit-learn for crop yield prediction, time series forecasting for weather, and image classification for disease detection.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8376" y="5099090"/>
            <a:ext cx="653653" cy="980480"/>
          </a:xfrm>
          <a:prstGeom prst="roundRect">
            <a:avLst>
              <a:gd name="adj" fmla="val 360026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262688" y="5436156"/>
            <a:ext cx="245031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75383" y="5262443"/>
            <a:ext cx="2425422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Multilingual &amp; SMS Support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75383" y="5615821"/>
            <a:ext cx="718304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Adding local languages (Swahili, Hindi, Hausa) and USSD/SMS integration for offline access.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58376" y="6242923"/>
            <a:ext cx="653653" cy="980480"/>
          </a:xfrm>
          <a:prstGeom prst="roundRect">
            <a:avLst>
              <a:gd name="adj" fmla="val 360026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524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62688" y="6579989"/>
            <a:ext cx="245031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875383" y="6406277"/>
            <a:ext cx="230433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Historical Data Database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75383" y="6759654"/>
            <a:ext cx="718304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Storing past interactions and data for pattern learning and continuous system improvement.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818</Words>
  <Application>Microsoft Office PowerPoint</Application>
  <PresentationFormat>Custom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Outfit Medium</vt:lpstr>
      <vt:lpstr>Outfit Light</vt:lpstr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Ayush Khare</cp:lastModifiedBy>
  <cp:revision>3</cp:revision>
  <dcterms:created xsi:type="dcterms:W3CDTF">2026-01-17T08:29:53Z</dcterms:created>
  <dcterms:modified xsi:type="dcterms:W3CDTF">2026-01-17T08:35:03Z</dcterms:modified>
</cp:coreProperties>
</file>